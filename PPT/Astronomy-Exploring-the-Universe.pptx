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Bevan"/>
      <p:regular r:id="rId17"/>
      <p:italic r:id="rId18"/>
    </p:embeddedFon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6.xml"/><Relationship Id="rId22" Type="http://schemas.openxmlformats.org/officeDocument/2006/relationships/font" Target="fonts/Inter-boldItalic.fntdata"/><Relationship Id="rId10" Type="http://schemas.openxmlformats.org/officeDocument/2006/relationships/slide" Target="slides/slide5.xml"/><Relationship Id="rId21" Type="http://schemas.openxmlformats.org/officeDocument/2006/relationships/font" Target="fonts/Inter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Bevan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Inter-regular.fntdata"/><Relationship Id="rId6" Type="http://schemas.openxmlformats.org/officeDocument/2006/relationships/slide" Target="slides/slide1.xml"/><Relationship Id="rId18" Type="http://schemas.openxmlformats.org/officeDocument/2006/relationships/font" Target="fonts/Bevan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68e9952f1cc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68e9952f1cc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68e9952f3933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68e9952f3933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68e9952f587e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68e9952f587e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68e9952fa68d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68e9952fa68d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68e9952fbe3d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68e9952fbe3d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68e9952fd1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68e9952fd1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68e99530053b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68e99530053b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68e995301a24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68e995301a24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68e995305704b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68e995305704b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68e995306b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68e995306b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68e995306c37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68e995306c37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3.jpg"/><Relationship Id="rId5" Type="http://schemas.openxmlformats.org/officeDocument/2006/relationships/image" Target="../media/image7.jpg"/><Relationship Id="rId6" Type="http://schemas.openxmlformats.org/officeDocument/2006/relationships/image" Target="../media/image10.jpg"/><Relationship Id="rId7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8.jpg"/><Relationship Id="rId5" Type="http://schemas.openxmlformats.org/officeDocument/2006/relationships/image" Target="../media/image1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Relationship Id="rId4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12.jpg"/><Relationship Id="rId5" Type="http://schemas.openxmlformats.org/officeDocument/2006/relationships/image" Target="../media/image16.jpg"/><Relationship Id="rId6" Type="http://schemas.openxmlformats.org/officeDocument/2006/relationships/image" Target="../media/image1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7260" y="742950"/>
            <a:ext cx="365760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914900" y="1371600"/>
            <a:ext cx="38292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325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Astronomy: Exploring the Universe</a:t>
            </a:r>
            <a:endParaRPr b="1" sz="325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GCSE Revision for Year 11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Learning Objectives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By the end of this lesson you will be able to: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Describe what a galaxy is and give examples.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Explain what a light-year measures in astronomy.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Understand the role of gravity in the universe.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Explain what an orbit is and give real-world examples.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Apply your knowledge to answer GCSE-style questions.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1600200"/>
            <a:ext cx="196596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0310" y="914400"/>
            <a:ext cx="196596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86300" y="1600200"/>
            <a:ext cx="196596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80860" y="914400"/>
            <a:ext cx="196596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Key Vocabulary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285750" y="3086100"/>
            <a:ext cx="196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Galaxy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Stars, planets, dust, gas bound by gravity form galaxies. Milky Way is our galaxy.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480310" y="2400300"/>
            <a:ext cx="196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Light-year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distance light travels in one year, about 9.46 trillion kilometres. Used to measure vast distances in space.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686300" y="3086100"/>
            <a:ext cx="196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Gravity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Attraction between objects; keeps planets orbiting stars.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6880860" y="2400300"/>
            <a:ext cx="19659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Orbit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curved path an object follows around a planet, star, or moon due to gravity.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What is a Galaxy?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15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Understanding Galaxies</a:t>
            </a:r>
            <a:endParaRPr b="1" sz="215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 galaxy is a vast collection of billions of stars, gas, dust, and dark matter, all held together by gravity.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Milky Way, our galaxy, is just one of billions in the universe. Galaxies come in different shapes: spiral, elliptical, and irregular.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Fun Fact:</a:t>
            </a: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The Andromeda Galaxy is the closest major galaxy to the Milky Way.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 txBox="1"/>
          <p:nvPr/>
        </p:nvSpPr>
        <p:spPr>
          <a:xfrm>
            <a:off x="3714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325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Measuring Space: Light-Years</a:t>
            </a:r>
            <a:endParaRPr b="1" sz="325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15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Why Use Light-Years?</a:t>
            </a:r>
            <a:endParaRPr b="1" sz="215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Distances in space are so large that kilometres are not practical. A light-year is the distance light travels in one year.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For example, the Sun is about 8 light-minutes from Earth, but the nearest star (Proxima Centauri) is over 4 light-years away.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Analogy:</a:t>
            </a: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If the universe was a map, a light-year would be a giant step!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800100"/>
            <a:ext cx="4171950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86300" y="800100"/>
            <a:ext cx="4171950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Gravity: The Cosmic Glue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285750" y="314325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Gravity pulls everything with mass towards each other. It keeps us on Earth and holds the Solar System together.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4686300" y="3143250"/>
            <a:ext cx="41721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Without gravity, planets and stars would drift apart. It's why the Moon orbits Earth, and Earth orbits the Sun.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800100"/>
            <a:ext cx="382905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Orbits in Action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285750" y="800100"/>
            <a:ext cx="4572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15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Real-World Orbits</a:t>
            </a:r>
            <a:endParaRPr b="1" sz="215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Planets, moons, and satellites all move in orbits because of gravity. The International Space Station (ISS) orbits Earth at about 28,000 km/h!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Example:</a:t>
            </a: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The Earth completes one orbit around the Sun every year, creating our seasons.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/>
          <p:nvPr/>
        </p:nvSpPr>
        <p:spPr>
          <a:xfrm>
            <a:off x="1428750" y="914400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38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1485900"/>
            <a:ext cx="269748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0"/>
          <p:cNvSpPr/>
          <p:nvPr/>
        </p:nvSpPr>
        <p:spPr>
          <a:xfrm>
            <a:off x="4354830" y="914400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38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11830" y="1485900"/>
            <a:ext cx="269748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7292340" y="914400"/>
            <a:ext cx="411600" cy="411600"/>
          </a:xfrm>
          <a:prstGeom prst="ellipse">
            <a:avLst/>
          </a:prstGeom>
          <a:solidFill>
            <a:srgbClr val="FFFFFF"/>
          </a:solidFill>
          <a:ln cap="flat" cmpd="sng" w="25400">
            <a:solidFill>
              <a:srgbClr val="4389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49340" y="1485900"/>
            <a:ext cx="269748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Case Study: The Solar System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428750" y="9144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1" sz="160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285750" y="2971800"/>
            <a:ext cx="2697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The Sun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 star at the centre of our solar system, providing light and heat.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4354830" y="9144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1" sz="160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211830" y="2971800"/>
            <a:ext cx="2697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Planets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Eight planets, including Earth, orbit the Sun due to gravity.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7292340" y="9144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040F0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1" sz="1600">
              <a:solidFill>
                <a:srgbClr val="040F0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149340" y="2971800"/>
            <a:ext cx="26976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Moons</a:t>
            </a:r>
            <a:endParaRPr b="1" sz="20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Many planets have moons that orbit them, like our Moon or Jupiter’s many moons.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Astronomy Essentials Quiz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285750" y="1143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Question 1:</a:t>
            </a:r>
            <a:endParaRPr b="1"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What fundamental force is responsible for holding galaxies together and keeping planets in orbit?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9" name="Google Shape;129;p21"/>
          <p:cNvSpPr txBox="1"/>
          <p:nvPr/>
        </p:nvSpPr>
        <p:spPr>
          <a:xfrm>
            <a:off x="285750" y="2286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Question 2:</a:t>
            </a:r>
            <a:endParaRPr b="1"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Explain why astronomers use 'light-years' instead of kilometres to measure distances between celestial objects.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285750" y="3429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Question 3:</a:t>
            </a:r>
            <a:endParaRPr b="1"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Other than planets orbiting stars, provide one real-world example of an object orbiting another due to gravity.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21"/>
          <p:cNvSpPr txBox="1"/>
          <p:nvPr/>
        </p:nvSpPr>
        <p:spPr>
          <a:xfrm>
            <a:off x="4743450" y="4389120"/>
            <a:ext cx="396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Answers on the next slide...</a:t>
            </a:r>
            <a:endParaRPr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2"/>
          <p:cNvSpPr txBox="1"/>
          <p:nvPr/>
        </p:nvSpPr>
        <p:spPr>
          <a:xfrm>
            <a:off x="285750" y="17145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290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Astronomy Essentials Quiz</a:t>
            </a:r>
            <a:endParaRPr sz="290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8366760" y="342900"/>
            <a:ext cx="54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450"/>
              </a:spcBef>
              <a:spcAft>
                <a:spcPts val="450"/>
              </a:spcAft>
              <a:buNone/>
            </a:pPr>
            <a:r>
              <a:rPr lang="en-GB" sz="3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​✅​</a:t>
            </a:r>
            <a:endParaRPr sz="3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8" name="Google Shape;138;p22"/>
          <p:cNvSpPr txBox="1"/>
          <p:nvPr/>
        </p:nvSpPr>
        <p:spPr>
          <a:xfrm>
            <a:off x="285750" y="1143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Answer 1:</a:t>
            </a:r>
            <a:endParaRPr b="1"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Gravity is the attractive force that pulls objects with mass towards each other, holding astronomical structures together.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22"/>
          <p:cNvSpPr txBox="1"/>
          <p:nvPr/>
        </p:nvSpPr>
        <p:spPr>
          <a:xfrm>
            <a:off x="285750" y="2286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Answer 2:</a:t>
            </a:r>
            <a:endParaRPr b="1"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Astronomers use light-years because distances in space are immensely vast, making kilometres impractical for such measurements.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22"/>
          <p:cNvSpPr txBox="1"/>
          <p:nvPr/>
        </p:nvSpPr>
        <p:spPr>
          <a:xfrm>
            <a:off x="285750" y="3429000"/>
            <a:ext cx="8572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438951"/>
                </a:solidFill>
                <a:latin typeface="Inter"/>
                <a:ea typeface="Inter"/>
                <a:cs typeface="Inter"/>
                <a:sym typeface="Inter"/>
              </a:rPr>
              <a:t>Answer 3:</a:t>
            </a:r>
            <a:endParaRPr b="1" sz="1600">
              <a:solidFill>
                <a:srgbClr val="43895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Satellites, such as the International Space Station, orbit Earth due to the planet's gravitational pull.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850" y="0"/>
            <a:ext cx="34861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3"/>
          <p:cNvSpPr txBox="1"/>
          <p:nvPr/>
        </p:nvSpPr>
        <p:spPr>
          <a:xfrm>
            <a:off x="285750" y="171450"/>
            <a:ext cx="51435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3250">
                <a:solidFill>
                  <a:srgbClr val="3B4540"/>
                </a:solidFill>
                <a:latin typeface="Bevan"/>
                <a:ea typeface="Bevan"/>
                <a:cs typeface="Bevan"/>
                <a:sym typeface="Bevan"/>
              </a:rPr>
              <a:t>Summary: The Universe Awaits</a:t>
            </a:r>
            <a:endParaRPr b="1" sz="3250">
              <a:solidFill>
                <a:srgbClr val="3B4540"/>
              </a:solidFill>
              <a:latin typeface="Bevan"/>
              <a:ea typeface="Bevan"/>
              <a:cs typeface="Bevan"/>
              <a:sym typeface="Bevan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GB" sz="215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Key Points</a:t>
            </a:r>
            <a:endParaRPr b="1" sz="215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36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Galaxies are huge collections of stars, planets, and dust held together by gravity.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Light-years help us measure the vast distances in space.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Gravity is the force that shapes the universe, creating orbits and keeping everything together.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3B4540"/>
              </a:buClr>
              <a:buSzPts val="1600"/>
              <a:buFont typeface="Inter"/>
              <a:buChar char="●"/>
            </a:pP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Orbits explain the movement of planets, moons, and satellites.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360"/>
              </a:spcBef>
              <a:spcAft>
                <a:spcPts val="360"/>
              </a:spcAft>
              <a:buNone/>
            </a:pPr>
            <a:r>
              <a:rPr b="1"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Remember:</a:t>
            </a:r>
            <a:r>
              <a:rPr lang="en-GB" sz="1600">
                <a:solidFill>
                  <a:srgbClr val="3B4540"/>
                </a:solidFill>
                <a:latin typeface="Inter"/>
                <a:ea typeface="Inter"/>
                <a:cs typeface="Inter"/>
                <a:sym typeface="Inter"/>
              </a:rPr>
              <a:t> Our understanding of the universe is always growing – keep exploring!</a:t>
            </a:r>
            <a:endParaRPr sz="1600">
              <a:solidFill>
                <a:srgbClr val="3B454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